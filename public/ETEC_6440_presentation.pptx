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3679475" cx="2447925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99">
          <p15:clr>
            <a:srgbClr val="A4A3A4"/>
          </p15:clr>
        </p15:guide>
        <p15:guide id="2" pos="771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Sbaot8q1gjt2pKb6G48OS0rbm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99" orient="horz"/>
        <p:guide pos="771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PoppinsSemiBold-bold.fntdata"/><Relationship Id="rId21" Type="http://schemas.openxmlformats.org/officeDocument/2006/relationships/font" Target="fonts/PoppinsSemiBold-regular.fntdata"/><Relationship Id="rId24" Type="http://schemas.openxmlformats.org/officeDocument/2006/relationships/font" Target="fonts/PoppinsSemiBold-boldItalic.fntdata"/><Relationship Id="rId23" Type="http://schemas.openxmlformats.org/officeDocument/2006/relationships/font" Target="fonts/Poppi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/>
          <p:nvPr>
            <p:ph idx="2" type="pic"/>
          </p:nvPr>
        </p:nvSpPr>
        <p:spPr>
          <a:xfrm>
            <a:off x="3606176" y="2617065"/>
            <a:ext cx="3491346" cy="429491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/>
          <p:nvPr>
            <p:ph idx="2" type="pic"/>
          </p:nvPr>
        </p:nvSpPr>
        <p:spPr>
          <a:xfrm>
            <a:off x="4267200" y="2617065"/>
            <a:ext cx="3491346" cy="429491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/>
          <p:nvPr>
            <p:ph idx="2" type="pic"/>
          </p:nvPr>
        </p:nvSpPr>
        <p:spPr>
          <a:xfrm>
            <a:off x="12510792" y="5874326"/>
            <a:ext cx="3447457" cy="3403474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9"/>
          <p:cNvSpPr/>
          <p:nvPr>
            <p:ph idx="3" type="pic"/>
          </p:nvPr>
        </p:nvSpPr>
        <p:spPr>
          <a:xfrm>
            <a:off x="16212758" y="3463636"/>
            <a:ext cx="3870409" cy="6373091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19"/>
          <p:cNvSpPr/>
          <p:nvPr>
            <p:ph idx="4" type="pic"/>
          </p:nvPr>
        </p:nvSpPr>
        <p:spPr>
          <a:xfrm>
            <a:off x="20337676" y="4546148"/>
            <a:ext cx="4141574" cy="379428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/>
          <p:nvPr>
            <p:ph idx="2" type="pic"/>
          </p:nvPr>
        </p:nvSpPr>
        <p:spPr>
          <a:xfrm>
            <a:off x="6164826" y="5348647"/>
            <a:ext cx="7579135" cy="15633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/>
          <p:nvPr>
            <p:ph idx="2" type="pic"/>
          </p:nvPr>
        </p:nvSpPr>
        <p:spPr>
          <a:xfrm>
            <a:off x="12239625" y="6948488"/>
            <a:ext cx="9291483" cy="259922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>
            <p:ph idx="2" type="pic"/>
          </p:nvPr>
        </p:nvSpPr>
        <p:spPr>
          <a:xfrm>
            <a:off x="803563" y="1115724"/>
            <a:ext cx="8700655" cy="7259782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23"/>
          <p:cNvSpPr/>
          <p:nvPr>
            <p:ph idx="3" type="pic"/>
          </p:nvPr>
        </p:nvSpPr>
        <p:spPr>
          <a:xfrm>
            <a:off x="9725890" y="1115724"/>
            <a:ext cx="4516583" cy="11665528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3"/>
          <p:cNvSpPr/>
          <p:nvPr>
            <p:ph idx="4" type="pic"/>
          </p:nvPr>
        </p:nvSpPr>
        <p:spPr>
          <a:xfrm>
            <a:off x="14464144" y="1116013"/>
            <a:ext cx="4516583" cy="5922963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3"/>
          <p:cNvSpPr/>
          <p:nvPr>
            <p:ph idx="5" type="pic"/>
          </p:nvPr>
        </p:nvSpPr>
        <p:spPr>
          <a:xfrm>
            <a:off x="19202396" y="1115724"/>
            <a:ext cx="4516584" cy="5923252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23"/>
          <p:cNvSpPr/>
          <p:nvPr>
            <p:ph idx="6" type="pic"/>
          </p:nvPr>
        </p:nvSpPr>
        <p:spPr>
          <a:xfrm>
            <a:off x="14464144" y="7239434"/>
            <a:ext cx="9254837" cy="554181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/>
          <p:nvPr>
            <p:ph idx="2" type="pic"/>
          </p:nvPr>
        </p:nvSpPr>
        <p:spPr>
          <a:xfrm>
            <a:off x="6650182" y="2512724"/>
            <a:ext cx="15461672" cy="87006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/>
          <p:nvPr>
            <p:ph idx="2" type="pic"/>
          </p:nvPr>
        </p:nvSpPr>
        <p:spPr>
          <a:xfrm>
            <a:off x="2244725" y="3630613"/>
            <a:ext cx="12053888" cy="75644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/>
          <p:nvPr>
            <p:ph idx="2" type="pic"/>
          </p:nvPr>
        </p:nvSpPr>
        <p:spPr>
          <a:xfrm>
            <a:off x="6733381" y="3574762"/>
            <a:ext cx="7481888" cy="2714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>
            <p:ph idx="2" type="pic"/>
          </p:nvPr>
        </p:nvSpPr>
        <p:spPr>
          <a:xfrm>
            <a:off x="5818188" y="5624513"/>
            <a:ext cx="7232650" cy="2716212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7"/>
          <p:cNvSpPr/>
          <p:nvPr>
            <p:ph idx="3" type="pic"/>
          </p:nvPr>
        </p:nvSpPr>
        <p:spPr>
          <a:xfrm>
            <a:off x="13438188" y="5624513"/>
            <a:ext cx="3963121" cy="48218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>
            <p:ph idx="2" type="pic"/>
          </p:nvPr>
        </p:nvSpPr>
        <p:spPr>
          <a:xfrm>
            <a:off x="12239625" y="1330036"/>
            <a:ext cx="4940011" cy="536907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8"/>
          <p:cNvSpPr/>
          <p:nvPr>
            <p:ph idx="3" type="pic"/>
          </p:nvPr>
        </p:nvSpPr>
        <p:spPr>
          <a:xfrm>
            <a:off x="12239626" y="7232072"/>
            <a:ext cx="4940011" cy="53690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>
            <p:ph idx="2" type="pic"/>
          </p:nvPr>
        </p:nvSpPr>
        <p:spPr>
          <a:xfrm>
            <a:off x="1634837" y="7675420"/>
            <a:ext cx="3020291" cy="3075709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9"/>
          <p:cNvSpPr/>
          <p:nvPr>
            <p:ph idx="3" type="pic"/>
          </p:nvPr>
        </p:nvSpPr>
        <p:spPr>
          <a:xfrm>
            <a:off x="11249891" y="7675419"/>
            <a:ext cx="11594523" cy="307570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/>
          <p:nvPr>
            <p:ph idx="2" type="pic"/>
          </p:nvPr>
        </p:nvSpPr>
        <p:spPr>
          <a:xfrm>
            <a:off x="13355782" y="0"/>
            <a:ext cx="10113818" cy="85066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>
            <p:ph idx="2" type="pic"/>
          </p:nvPr>
        </p:nvSpPr>
        <p:spPr>
          <a:xfrm>
            <a:off x="0" y="2660073"/>
            <a:ext cx="10307782" cy="809105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1682949" y="728307"/>
            <a:ext cx="21113353" cy="2644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77"/>
              <a:buFont typeface="Calibri"/>
              <a:buNone/>
              <a:defRPr b="0" i="0" sz="87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1682949" y="3641531"/>
            <a:ext cx="21113353" cy="8679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3248" lvl="0" marL="457200" marR="0" rtl="0" algn="l">
              <a:lnSpc>
                <a:spcPct val="90000"/>
              </a:lnSpc>
              <a:spcBef>
                <a:spcPts val="1995"/>
              </a:spcBef>
              <a:spcAft>
                <a:spcPts val="0"/>
              </a:spcAft>
              <a:buClr>
                <a:schemeClr val="dk1"/>
              </a:buClr>
              <a:buSzPts val="5585"/>
              <a:buFont typeface="Arial"/>
              <a:buChar char="•"/>
              <a:defRPr b="0" i="0" sz="55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2574" lvl="1" marL="9144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4787"/>
              <a:buFont typeface="Arial"/>
              <a:buChar char="•"/>
              <a:defRPr b="0" i="0" sz="47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1902" lvl="2" marL="13716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989"/>
              <a:buFont typeface="Arial"/>
              <a:buChar char="•"/>
              <a:defRPr b="0" i="0" sz="39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6565" lvl="3" marL="18288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590"/>
              <a:buFont typeface="Arial"/>
              <a:buChar char="•"/>
              <a:defRPr b="0" i="0" sz="3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6565" lvl="4" marL="22860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590"/>
              <a:buFont typeface="Arial"/>
              <a:buChar char="•"/>
              <a:defRPr b="0" i="0" sz="3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6565" lvl="5" marL="27432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590"/>
              <a:buFont typeface="Arial"/>
              <a:buChar char="•"/>
              <a:defRPr b="0" i="0" sz="3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6565" lvl="6" marL="32004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590"/>
              <a:buFont typeface="Arial"/>
              <a:buChar char="•"/>
              <a:defRPr b="0" i="0" sz="3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6565" lvl="7" marL="36576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590"/>
              <a:buFont typeface="Arial"/>
              <a:buChar char="•"/>
              <a:defRPr b="0" i="0" sz="3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6565" lvl="8" marL="4114800" marR="0" rtl="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590"/>
              <a:buFont typeface="Arial"/>
              <a:buChar char="•"/>
              <a:defRPr b="0" i="0" sz="3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1682949" y="12678860"/>
            <a:ext cx="5507831" cy="72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8108752" y="12678860"/>
            <a:ext cx="8261747" cy="72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7288470" y="12678860"/>
            <a:ext cx="5507831" cy="72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39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1463820" y="11291711"/>
            <a:ext cx="10486654" cy="72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21E1F"/>
                </a:solidFill>
                <a:latin typeface="Poppins"/>
                <a:ea typeface="Poppins"/>
                <a:cs typeface="Poppins"/>
                <a:sym typeface="Poppins"/>
              </a:rPr>
              <a:t>California State University San Bernardino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7821007" y="4132160"/>
            <a:ext cx="57131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1E1F"/>
                </a:solidFill>
                <a:latin typeface="Poppins"/>
                <a:ea typeface="Poppins"/>
                <a:cs typeface="Poppins"/>
                <a:sym typeface="Poppins"/>
              </a:rPr>
              <a:t>Focus: Tense Application in Writing</a:t>
            </a:r>
            <a:endParaRPr b="0" i="0" sz="2400" u="none" cap="none" strike="noStrike">
              <a:solidFill>
                <a:srgbClr val="221E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17162988" y="1802896"/>
            <a:ext cx="2286000" cy="10752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oppins SemiBold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Client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18078023" y="2891722"/>
            <a:ext cx="5199149" cy="198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/Qi Yao Educational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1463820" y="2878121"/>
            <a:ext cx="1762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1E1F"/>
                </a:solidFill>
                <a:latin typeface="Poppins"/>
                <a:ea typeface="Poppins"/>
                <a:cs typeface="Poppins"/>
                <a:sym typeface="Poppins"/>
              </a:rPr>
              <a:t>ETEC 6440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1334366" y="2015259"/>
            <a:ext cx="3123334" cy="107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</a:pPr>
            <a:r>
              <a:rPr b="0" lang="en-US" sz="5400" u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Yu Liu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1334366" y="7696332"/>
            <a:ext cx="12942189" cy="2865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Impact"/>
              <a:buNone/>
            </a:pPr>
            <a:r>
              <a:rPr b="0" lang="en-US" sz="11500" u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Designing for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Impact"/>
              <a:buNone/>
            </a:pPr>
            <a:r>
              <a:rPr b="0" lang="en-US" sz="11500" u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Grammar Transfer</a:t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14650599" y="4432242"/>
            <a:ext cx="3796360" cy="3796361"/>
          </a:xfrm>
          <a:prstGeom prst="ellipse">
            <a:avLst/>
          </a:prstGeom>
          <a:solidFill>
            <a:schemeClr val="accent1">
              <a:alpha val="6196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2941639" y="4995457"/>
            <a:ext cx="7346338" cy="7346338"/>
          </a:xfrm>
          <a:prstGeom prst="ellipse">
            <a:avLst/>
          </a:prstGeom>
          <a:solidFill>
            <a:srgbClr val="FF0000">
              <a:alpha val="6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11950474" y="4456349"/>
            <a:ext cx="6355514" cy="6355515"/>
          </a:xfrm>
          <a:prstGeom prst="ellipse">
            <a:avLst/>
          </a:prstGeom>
          <a:solidFill>
            <a:srgbClr val="FFC000">
              <a:alpha val="6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/>
        </p:nvSpPr>
        <p:spPr>
          <a:xfrm>
            <a:off x="1161284" y="1185027"/>
            <a:ext cx="17425448" cy="47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Poppins SemiBold"/>
              <a:buNone/>
            </a:pPr>
            <a:r>
              <a:rPr lang="en-US" sz="1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Poppins SemiBold"/>
              <a:buNone/>
            </a:pPr>
            <a:r>
              <a:rPr lang="en-US" sz="1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Gap</a:t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12778342" y="1101900"/>
            <a:ext cx="1191491" cy="1662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5598853" y="10615864"/>
            <a:ext cx="8137447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performance gap reflects a misalignment between instruction, assessment, and desired outcomes rather than mere exposure to content.</a:t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19231510" y="660093"/>
            <a:ext cx="4200525" cy="1468219"/>
            <a:chOff x="714374" y="627153"/>
            <a:chExt cx="4200525" cy="1468219"/>
          </a:xfrm>
        </p:grpSpPr>
        <p:sp>
          <p:nvSpPr>
            <p:cNvPr id="76" name="Google Shape;76;p2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77" name="Google Shape;7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2"/>
          <p:cNvGrpSpPr/>
          <p:nvPr/>
        </p:nvGrpSpPr>
        <p:grpSpPr>
          <a:xfrm>
            <a:off x="-431258" y="4290863"/>
            <a:ext cx="23863293" cy="7991191"/>
            <a:chOff x="1025532" y="5353334"/>
            <a:chExt cx="22350340" cy="6886575"/>
          </a:xfrm>
        </p:grpSpPr>
        <p:pic>
          <p:nvPicPr>
            <p:cNvPr descr="A diagram of a diagram&#10;&#10;AI-generated content may be incorrect." id="79" name="Google Shape;79;p2"/>
            <p:cNvPicPr preferRelativeResize="0"/>
            <p:nvPr/>
          </p:nvPicPr>
          <p:blipFill rotWithShape="1">
            <a:blip r:embed="rId4">
              <a:alphaModFix/>
            </a:blip>
            <a:srcRect b="21086" l="0" r="0" t="34211"/>
            <a:stretch/>
          </p:blipFill>
          <p:spPr>
            <a:xfrm>
              <a:off x="1025532" y="5353334"/>
              <a:ext cx="22350340" cy="6886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2"/>
            <p:cNvSpPr txBox="1"/>
            <p:nvPr/>
          </p:nvSpPr>
          <p:spPr>
            <a:xfrm flipH="1">
              <a:off x="2700336" y="6469450"/>
              <a:ext cx="437197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Learn: Textbook Exposure</a:t>
              </a:r>
              <a:endParaRPr/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3228949" y="7729533"/>
              <a:ext cx="3378945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Students learn grammar rules via textbook exercises.</a:t>
              </a:r>
              <a:endParaRPr/>
            </a:p>
          </p:txBody>
        </p:sp>
        <p:sp>
          <p:nvSpPr>
            <p:cNvPr id="82" name="Google Shape;82;p2"/>
            <p:cNvSpPr txBox="1"/>
            <p:nvPr/>
          </p:nvSpPr>
          <p:spPr>
            <a:xfrm flipH="1">
              <a:off x="10053637" y="6445947"/>
              <a:ext cx="437197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Structural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Misalignment</a:t>
              </a:r>
              <a:endParaRPr/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10590888" y="7818457"/>
              <a:ext cx="3378945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Lack of learning outcomes and assessment.</a:t>
              </a:r>
              <a:endParaRPr/>
            </a:p>
          </p:txBody>
        </p:sp>
        <p:sp>
          <p:nvSpPr>
            <p:cNvPr id="84" name="Google Shape;84;p2"/>
            <p:cNvSpPr txBox="1"/>
            <p:nvPr/>
          </p:nvSpPr>
          <p:spPr>
            <a:xfrm flipH="1">
              <a:off x="17406938" y="6469450"/>
              <a:ext cx="437197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Fail to Apply: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Transfer Failure</a:t>
              </a:r>
              <a:endParaRPr/>
            </a:p>
          </p:txBody>
        </p:sp>
        <p:sp>
          <p:nvSpPr>
            <p:cNvPr id="85" name="Google Shape;85;p2"/>
            <p:cNvSpPr txBox="1"/>
            <p:nvPr/>
          </p:nvSpPr>
          <p:spPr>
            <a:xfrm>
              <a:off x="17952828" y="7818457"/>
              <a:ext cx="3378945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Knowledge does not transfer to authentic writing.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/>
        </p:nvSpPr>
        <p:spPr>
          <a:xfrm>
            <a:off x="2825895" y="2325003"/>
            <a:ext cx="9413730" cy="4514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oppins SemiBold"/>
              <a:buNone/>
            </a:pPr>
            <a:r>
              <a:rPr lang="en-US" sz="1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Learners and Design Constraints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181032" y="7372351"/>
            <a:ext cx="4790413" cy="44887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39030" y="7366329"/>
            <a:ext cx="4342164" cy="44887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0561227" y="7372350"/>
            <a:ext cx="4383498" cy="448879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2520345" y="8060488"/>
            <a:ext cx="3051780" cy="136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Limited Instructional Time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2560073" y="9932563"/>
            <a:ext cx="3727533" cy="1421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1.5-2 hours per session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5293005" y="4582373"/>
            <a:ext cx="8515349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Mixed-grade (grade 2-5)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 to low-intermediate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Driven by K-12 exam performance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4705540" y="3283067"/>
            <a:ext cx="740891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Variable Learners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3438551" y="2552561"/>
            <a:ext cx="1053271" cy="1658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Poppins SemiBold"/>
              <a:buNone/>
            </a:pPr>
            <a:r>
              <a:rPr lang="en-US" sz="118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</a:t>
            </a:r>
            <a:endParaRPr sz="118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99" name="Google Shape;99;p3"/>
          <p:cNvGrpSpPr/>
          <p:nvPr/>
        </p:nvGrpSpPr>
        <p:grpSpPr>
          <a:xfrm>
            <a:off x="826870" y="856783"/>
            <a:ext cx="4200525" cy="1468219"/>
            <a:chOff x="714374" y="627153"/>
            <a:chExt cx="4200525" cy="1468219"/>
          </a:xfrm>
        </p:grpSpPr>
        <p:sp>
          <p:nvSpPr>
            <p:cNvPr id="100" name="Google Shape;100;p3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01" name="Google Shape;10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3"/>
          <p:cNvSpPr txBox="1"/>
          <p:nvPr/>
        </p:nvSpPr>
        <p:spPr>
          <a:xfrm>
            <a:off x="6796998" y="8060488"/>
            <a:ext cx="3051780" cy="136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Platform Environment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795844" y="9826369"/>
            <a:ext cx="3727533" cy="1421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Notion delivery; Segmented &amp; asynchronous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1029443" y="8060488"/>
            <a:ext cx="3051780" cy="136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Curriculum Rules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10952954" y="9750853"/>
            <a:ext cx="3727533" cy="1421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structured assessment tools natively available.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1242292" y="800502"/>
            <a:ext cx="21994665" cy="3930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Poppins SemiBold"/>
              <a:buNone/>
            </a:pPr>
            <a:r>
              <a:rPr lang="en-US" sz="88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Hybrid Instructional Design Approach</a:t>
            </a:r>
            <a:endParaRPr sz="8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3494236" y="10913806"/>
            <a:ext cx="1072320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 flipH="1" rot="10800000">
            <a:off x="22347868" y="2606709"/>
            <a:ext cx="1191491" cy="15897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4"/>
          <p:cNvGrpSpPr/>
          <p:nvPr/>
        </p:nvGrpSpPr>
        <p:grpSpPr>
          <a:xfrm>
            <a:off x="512545" y="11658133"/>
            <a:ext cx="4200525" cy="1468219"/>
            <a:chOff x="714374" y="627153"/>
            <a:chExt cx="4200525" cy="1468219"/>
          </a:xfrm>
        </p:grpSpPr>
        <p:sp>
          <p:nvSpPr>
            <p:cNvPr id="114" name="Google Shape;114;p4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15" name="Google Shape;11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diagram of a model of design&#10;&#10;AI-generated content may be incorrect.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18281"/>
          <a:stretch/>
        </p:blipFill>
        <p:spPr>
          <a:xfrm>
            <a:off x="1242292" y="2953231"/>
            <a:ext cx="21351917" cy="870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21167067" y="2657562"/>
            <a:ext cx="1191491" cy="1662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2120692" y="1362541"/>
            <a:ext cx="21482258" cy="14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</a:pPr>
            <a:r>
              <a:rPr b="1" lang="en-US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Backward Design (Macro Alignment) + Gagné (Micro Sequencing)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</a:pPr>
            <a:r>
              <a:rPr b="1" lang="en-US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Aligned Cognitive Scaffold.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A diagram of a person&#10;&#10;AI-generated content may be incorrect.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25661"/>
          <a:stretch/>
        </p:blipFill>
        <p:spPr>
          <a:xfrm>
            <a:off x="990252" y="3743324"/>
            <a:ext cx="21958855" cy="814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5"/>
          <p:cNvGrpSpPr/>
          <p:nvPr/>
        </p:nvGrpSpPr>
        <p:grpSpPr>
          <a:xfrm>
            <a:off x="19402425" y="11582837"/>
            <a:ext cx="4200525" cy="1468219"/>
            <a:chOff x="714374" y="627153"/>
            <a:chExt cx="4200525" cy="1468219"/>
          </a:xfrm>
        </p:grpSpPr>
        <p:sp>
          <p:nvSpPr>
            <p:cNvPr id="125" name="Google Shape;125;p5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26" name="Google Shape;12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different colored cubes&#10;&#10;AI-generated content may be incorrect.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13254" r="11791" t="0"/>
          <a:stretch/>
        </p:blipFill>
        <p:spPr>
          <a:xfrm>
            <a:off x="4623953" y="3944865"/>
            <a:ext cx="14921347" cy="971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2121665" y="2737438"/>
            <a:ext cx="1274899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Poppins SemiBold"/>
              <a:buNone/>
            </a:pPr>
            <a:r>
              <a:rPr lang="en-US" sz="1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Instructional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2196379" y="4351020"/>
            <a:ext cx="3929928" cy="143372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800"/>
              <a:buFont typeface="Poppins"/>
              <a:buNone/>
            </a:pPr>
            <a:r>
              <a:rPr lang="en-US" sz="9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Flow.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3492552" y="1361028"/>
            <a:ext cx="1130530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Systematic fading of cognitive scaffolding.</a:t>
            </a:r>
            <a:endParaRPr sz="4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1924866" y="1835906"/>
            <a:ext cx="1207075" cy="4357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Poppins SemiBold"/>
              <a:buNone/>
            </a:pPr>
            <a:r>
              <a:rPr lang="en-US" sz="118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</a:t>
            </a:r>
            <a:endParaRPr sz="118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36" name="Google Shape;136;p6"/>
          <p:cNvGrpSpPr/>
          <p:nvPr/>
        </p:nvGrpSpPr>
        <p:grpSpPr>
          <a:xfrm>
            <a:off x="1485900" y="1041806"/>
            <a:ext cx="4200525" cy="1468219"/>
            <a:chOff x="714374" y="627153"/>
            <a:chExt cx="4200525" cy="1468219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38" name="Google Shape;13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13286332" y="833516"/>
            <a:ext cx="84174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Implementation</a:t>
            </a:r>
            <a:endParaRPr sz="72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44" name="Google Shape;144;p7"/>
          <p:cNvGrpSpPr/>
          <p:nvPr/>
        </p:nvGrpSpPr>
        <p:grpSpPr>
          <a:xfrm>
            <a:off x="1485900" y="1041806"/>
            <a:ext cx="4200525" cy="1468219"/>
            <a:chOff x="714374" y="627153"/>
            <a:chExt cx="4200525" cy="1468219"/>
          </a:xfrm>
        </p:grpSpPr>
        <p:sp>
          <p:nvSpPr>
            <p:cNvPr id="145" name="Google Shape;145;p7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46" name="Google Shape;14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shot of a computer&#10;&#10;AI-generated content may be incorrect.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1513" y="2510025"/>
            <a:ext cx="15703550" cy="986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818" y="756056"/>
            <a:ext cx="20381922" cy="12557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8"/>
          <p:cNvGrpSpPr/>
          <p:nvPr/>
        </p:nvGrpSpPr>
        <p:grpSpPr>
          <a:xfrm>
            <a:off x="19316700" y="756056"/>
            <a:ext cx="4200525" cy="1468219"/>
            <a:chOff x="714374" y="627153"/>
            <a:chExt cx="4200525" cy="1468219"/>
          </a:xfrm>
        </p:grpSpPr>
        <p:sp>
          <p:nvSpPr>
            <p:cNvPr id="154" name="Google Shape;154;p8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55" name="Google Shape;15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101" y="639046"/>
            <a:ext cx="17719801" cy="124013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9"/>
          <p:cNvGrpSpPr/>
          <p:nvPr/>
        </p:nvGrpSpPr>
        <p:grpSpPr>
          <a:xfrm>
            <a:off x="19030950" y="984656"/>
            <a:ext cx="4200525" cy="1468219"/>
            <a:chOff x="714374" y="627153"/>
            <a:chExt cx="4200525" cy="1468219"/>
          </a:xfrm>
        </p:grpSpPr>
        <p:sp>
          <p:nvSpPr>
            <p:cNvPr id="162" name="Google Shape;162;p9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63" name="Google Shape;16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multicolored rectangular boxes&#10;&#10;AI-generated content may be incorrect." id="168" name="Google Shape;1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9856" y="556031"/>
            <a:ext cx="18912969" cy="119104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0"/>
          <p:cNvGrpSpPr/>
          <p:nvPr/>
        </p:nvGrpSpPr>
        <p:grpSpPr>
          <a:xfrm>
            <a:off x="-114300" y="556031"/>
            <a:ext cx="4200525" cy="1468219"/>
            <a:chOff x="714374" y="627153"/>
            <a:chExt cx="4200525" cy="1468219"/>
          </a:xfrm>
        </p:grpSpPr>
        <p:sp>
          <p:nvSpPr>
            <p:cNvPr id="170" name="Google Shape;170;p10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71" name="Google Shape;17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675" y="1122365"/>
            <a:ext cx="20345860" cy="104064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1"/>
          <p:cNvGrpSpPr/>
          <p:nvPr/>
        </p:nvGrpSpPr>
        <p:grpSpPr>
          <a:xfrm>
            <a:off x="857250" y="11557406"/>
            <a:ext cx="4200525" cy="1468219"/>
            <a:chOff x="714374" y="627153"/>
            <a:chExt cx="4200525" cy="1468219"/>
          </a:xfrm>
        </p:grpSpPr>
        <p:sp>
          <p:nvSpPr>
            <p:cNvPr id="178" name="Google Shape;178;p11"/>
            <p:cNvSpPr txBox="1"/>
            <p:nvPr/>
          </p:nvSpPr>
          <p:spPr>
            <a:xfrm>
              <a:off x="2003930" y="1066437"/>
              <a:ext cx="2910969" cy="10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oppins SemiBold"/>
                <a:buNone/>
              </a:pPr>
              <a:r>
                <a:rPr lang="en-US" sz="3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Shine Stone.</a:t>
              </a:r>
              <a:endParaRPr/>
            </a:p>
          </p:txBody>
        </p:sp>
        <p:pic>
          <p:nvPicPr>
            <p:cNvPr descr="A black and yellow logo&#10;&#10;AI-generated content may be incorrect." id="179" name="Google Shape;17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4" y="627153"/>
              <a:ext cx="2203451" cy="1468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2019-09-07T10:51:14Z</dcterms:created>
  <dc:creator>Visualin</dc:creator>
</cp:coreProperties>
</file>